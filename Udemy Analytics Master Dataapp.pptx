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6"/>
    <p:restoredTop sz="94658"/>
  </p:normalViewPr>
  <p:slideViewPr>
    <p:cSldViewPr snapToGrid="0">
      <p:cViewPr varScale="1">
        <p:scale>
          <a:sx n="120" d="100"/>
          <a:sy n="120" d="100"/>
        </p:scale>
        <p:origin x="1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33E17B-BA0D-4A3F-B777-A7FE59B4BA0E}" type="doc">
      <dgm:prSet loTypeId="urn:microsoft.com/office/officeart/2016/7/layout/RepeatingBendingProcessNew" loCatId="process" qsTypeId="urn:microsoft.com/office/officeart/2005/8/quickstyle/simple1#179" qsCatId="simple" csTypeId="urn:microsoft.com/office/officeart/2005/8/colors/colorful1#14" csCatId="colorful"/>
      <dgm:spPr/>
      <dgm:t>
        <a:bodyPr/>
        <a:lstStyle/>
        <a:p>
          <a:endParaRPr lang="en-US"/>
        </a:p>
      </dgm:t>
    </dgm:pt>
    <dgm:pt modelId="{ADABBD85-6FC6-4A1E-B81C-D2EE9B3E2D0D}">
      <dgm:prSet/>
      <dgm:spPr/>
      <dgm:t>
        <a:bodyPr/>
        <a:lstStyle/>
        <a:p>
          <a:r>
            <a:rPr lang="en-DE" b="1"/>
            <a:t>1. Deploy a Freemium Acquisition Funnel:</a:t>
          </a:r>
          <a:r>
            <a:rPr lang="en-DE"/>
            <a:t> Publish a concise 1–2 hour free teaser course ($0) to capture massive top-of-funnel student volume, then cross-sell into a full premium masterclass.</a:t>
          </a:r>
          <a:endParaRPr lang="en-US"/>
        </a:p>
      </dgm:t>
    </dgm:pt>
    <dgm:pt modelId="{920B7FCE-21CF-442E-867D-2888B6EEA8FF}" type="parTrans" cxnId="{2B0DA311-A14D-4580-829D-528B52E9D837}">
      <dgm:prSet/>
      <dgm:spPr/>
      <dgm:t>
        <a:bodyPr/>
        <a:lstStyle/>
        <a:p>
          <a:endParaRPr lang="en-US"/>
        </a:p>
      </dgm:t>
    </dgm:pt>
    <dgm:pt modelId="{4ABE58EF-A818-41BD-8852-9F53E219AD48}" type="sibTrans" cxnId="{2B0DA311-A14D-4580-829D-528B52E9D837}">
      <dgm:prSet/>
      <dgm:spPr/>
      <dgm:t>
        <a:bodyPr/>
        <a:lstStyle/>
        <a:p>
          <a:endParaRPr lang="en-US"/>
        </a:p>
      </dgm:t>
    </dgm:pt>
    <dgm:pt modelId="{EC490959-B9AD-4748-BB51-E0BDBB9AF144}">
      <dgm:prSet/>
      <dgm:spPr/>
      <dgm:t>
        <a:bodyPr/>
        <a:lstStyle/>
        <a:p>
          <a:r>
            <a:rPr lang="en-DE" b="1"/>
            <a:t>2. Ride the High-ROI Tech Wave:</a:t>
          </a:r>
          <a:r>
            <a:rPr lang="en-DE"/>
            <a:t> Prioritize Web Development and applied software tracks, where learner demand and willingness to pay are over 5x higher than other domains.</a:t>
          </a:r>
          <a:endParaRPr lang="en-US"/>
        </a:p>
      </dgm:t>
    </dgm:pt>
    <dgm:pt modelId="{D40E2C55-2691-4FD6-8087-1C413BDFE3D2}" type="parTrans" cxnId="{322F7484-7FD0-4A72-AF79-5FE3DDB383BE}">
      <dgm:prSet/>
      <dgm:spPr/>
      <dgm:t>
        <a:bodyPr/>
        <a:lstStyle/>
        <a:p>
          <a:endParaRPr lang="en-US"/>
        </a:p>
      </dgm:t>
    </dgm:pt>
    <dgm:pt modelId="{1C223485-65C3-4267-BC67-3F25A6D156DB}" type="sibTrans" cxnId="{322F7484-7FD0-4A72-AF79-5FE3DDB383BE}">
      <dgm:prSet/>
      <dgm:spPr/>
      <dgm:t>
        <a:bodyPr/>
        <a:lstStyle/>
        <a:p>
          <a:endParaRPr lang="en-US"/>
        </a:p>
      </dgm:t>
    </dgm:pt>
    <dgm:pt modelId="{7BEA5F66-3119-40A9-AA8D-57F8E828C515}">
      <dgm:prSet/>
      <dgm:spPr/>
      <dgm:t>
        <a:bodyPr/>
        <a:lstStyle/>
        <a:p>
          <a:r>
            <a:rPr lang="en-DE" b="1"/>
            <a:t>3. Target the Beginner Core:</a:t>
          </a:r>
          <a:r>
            <a:rPr lang="en-DE"/>
            <a:t> Design for </a:t>
          </a:r>
          <a:r>
            <a:rPr lang="en-DE" i="1"/>
            <a:t>"Beginner"</a:t>
          </a:r>
          <a:r>
            <a:rPr lang="en-DE"/>
            <a:t> and </a:t>
          </a:r>
          <a:r>
            <a:rPr lang="en-DE" i="1"/>
            <a:t>"All Levels"</a:t>
          </a:r>
          <a:r>
            <a:rPr lang="en-DE"/>
            <a:t> to capture 85%+ of aggregate student demand, reserving </a:t>
          </a:r>
          <a:r>
            <a:rPr lang="en-DE" i="1"/>
            <a:t>"Expert"</a:t>
          </a:r>
          <a:r>
            <a:rPr lang="en-DE"/>
            <a:t> modules as high-ticket niche add-ons.</a:t>
          </a:r>
          <a:endParaRPr lang="en-US"/>
        </a:p>
      </dgm:t>
    </dgm:pt>
    <dgm:pt modelId="{79BF3565-A803-48AA-AE17-03C270B60E4A}" type="parTrans" cxnId="{A5676ECE-D3B8-41DC-82C8-01E4D0A3DC94}">
      <dgm:prSet/>
      <dgm:spPr/>
      <dgm:t>
        <a:bodyPr/>
        <a:lstStyle/>
        <a:p>
          <a:endParaRPr lang="en-US"/>
        </a:p>
      </dgm:t>
    </dgm:pt>
    <dgm:pt modelId="{ED617855-CD92-48F0-8F09-938CA5DB5370}" type="sibTrans" cxnId="{A5676ECE-D3B8-41DC-82C8-01E4D0A3DC94}">
      <dgm:prSet/>
      <dgm:spPr/>
      <dgm:t>
        <a:bodyPr/>
        <a:lstStyle/>
        <a:p>
          <a:endParaRPr lang="en-US"/>
        </a:p>
      </dgm:t>
    </dgm:pt>
    <dgm:pt modelId="{39EDE778-9C1A-4043-AFB9-6AB95307AD70}">
      <dgm:prSet/>
      <dgm:spPr/>
      <dgm:t>
        <a:bodyPr/>
        <a:lstStyle/>
        <a:p>
          <a:r>
            <a:rPr lang="en-DE" b="1"/>
            <a:t>4. Ignite the Early Review Engine:</a:t>
          </a:r>
          <a:r>
            <a:rPr lang="en-DE"/>
            <a:t> Focus heavily on student onboarding in the first 30 days to build early review velocity, triggering the self-reinforcing social proof flywheel.</a:t>
          </a:r>
          <a:endParaRPr lang="en-US"/>
        </a:p>
      </dgm:t>
    </dgm:pt>
    <dgm:pt modelId="{E83DDAF8-D8E8-4A1A-8D35-E653173CAB3E}" type="parTrans" cxnId="{628086AE-B639-4C36-8C6C-9DEFB2693905}">
      <dgm:prSet/>
      <dgm:spPr/>
      <dgm:t>
        <a:bodyPr/>
        <a:lstStyle/>
        <a:p>
          <a:endParaRPr lang="en-US"/>
        </a:p>
      </dgm:t>
    </dgm:pt>
    <dgm:pt modelId="{7FD12BC9-80E4-4B45-9191-96B7E6DCBB78}" type="sibTrans" cxnId="{628086AE-B639-4C36-8C6C-9DEFB2693905}">
      <dgm:prSet/>
      <dgm:spPr/>
      <dgm:t>
        <a:bodyPr/>
        <a:lstStyle/>
        <a:p>
          <a:endParaRPr lang="en-US"/>
        </a:p>
      </dgm:t>
    </dgm:pt>
    <dgm:pt modelId="{AB2D60DF-FCA7-B241-AE18-C2C0625FCAE1}" type="pres">
      <dgm:prSet presAssocID="{AD33E17B-BA0D-4A3F-B777-A7FE59B4BA0E}" presName="Name0" presStyleCnt="0">
        <dgm:presLayoutVars>
          <dgm:dir/>
          <dgm:resizeHandles val="exact"/>
        </dgm:presLayoutVars>
      </dgm:prSet>
      <dgm:spPr/>
    </dgm:pt>
    <dgm:pt modelId="{5F70A50F-D327-EE40-84DA-0E13E03968CC}" type="pres">
      <dgm:prSet presAssocID="{ADABBD85-6FC6-4A1E-B81C-D2EE9B3E2D0D}" presName="node" presStyleLbl="node1" presStyleIdx="0" presStyleCnt="4">
        <dgm:presLayoutVars>
          <dgm:bulletEnabled val="1"/>
        </dgm:presLayoutVars>
      </dgm:prSet>
      <dgm:spPr/>
    </dgm:pt>
    <dgm:pt modelId="{8CC6DC67-6630-134C-AF53-1CE0E5695AD7}" type="pres">
      <dgm:prSet presAssocID="{4ABE58EF-A818-41BD-8852-9F53E219AD48}" presName="sibTrans" presStyleLbl="sibTrans1D1" presStyleIdx="0" presStyleCnt="3"/>
      <dgm:spPr/>
    </dgm:pt>
    <dgm:pt modelId="{6CBB360F-7CA1-C14B-85FD-562B267CFCDF}" type="pres">
      <dgm:prSet presAssocID="{4ABE58EF-A818-41BD-8852-9F53E219AD48}" presName="connectorText" presStyleLbl="sibTrans1D1" presStyleIdx="0" presStyleCnt="3"/>
      <dgm:spPr/>
    </dgm:pt>
    <dgm:pt modelId="{CA066B77-5600-7E42-B612-5BB60DD0FFF9}" type="pres">
      <dgm:prSet presAssocID="{EC490959-B9AD-4748-BB51-E0BDBB9AF144}" presName="node" presStyleLbl="node1" presStyleIdx="1" presStyleCnt="4">
        <dgm:presLayoutVars>
          <dgm:bulletEnabled val="1"/>
        </dgm:presLayoutVars>
      </dgm:prSet>
      <dgm:spPr/>
    </dgm:pt>
    <dgm:pt modelId="{6075610F-4B23-4248-BD00-25EAC9D30412}" type="pres">
      <dgm:prSet presAssocID="{1C223485-65C3-4267-BC67-3F25A6D156DB}" presName="sibTrans" presStyleLbl="sibTrans1D1" presStyleIdx="1" presStyleCnt="3"/>
      <dgm:spPr/>
    </dgm:pt>
    <dgm:pt modelId="{E54CF3F7-3D26-2549-8416-21247F1E7741}" type="pres">
      <dgm:prSet presAssocID="{1C223485-65C3-4267-BC67-3F25A6D156DB}" presName="connectorText" presStyleLbl="sibTrans1D1" presStyleIdx="1" presStyleCnt="3"/>
      <dgm:spPr/>
    </dgm:pt>
    <dgm:pt modelId="{2C6CB7F1-3CB3-8F49-8716-DC97122D0F47}" type="pres">
      <dgm:prSet presAssocID="{7BEA5F66-3119-40A9-AA8D-57F8E828C515}" presName="node" presStyleLbl="node1" presStyleIdx="2" presStyleCnt="4">
        <dgm:presLayoutVars>
          <dgm:bulletEnabled val="1"/>
        </dgm:presLayoutVars>
      </dgm:prSet>
      <dgm:spPr/>
    </dgm:pt>
    <dgm:pt modelId="{B22A13B3-850D-A040-8B58-2EEE8080C0F4}" type="pres">
      <dgm:prSet presAssocID="{ED617855-CD92-48F0-8F09-938CA5DB5370}" presName="sibTrans" presStyleLbl="sibTrans1D1" presStyleIdx="2" presStyleCnt="3"/>
      <dgm:spPr/>
    </dgm:pt>
    <dgm:pt modelId="{162DAAC2-FF70-EC4E-B200-79BFADB6C53D}" type="pres">
      <dgm:prSet presAssocID="{ED617855-CD92-48F0-8F09-938CA5DB5370}" presName="connectorText" presStyleLbl="sibTrans1D1" presStyleIdx="2" presStyleCnt="3"/>
      <dgm:spPr/>
    </dgm:pt>
    <dgm:pt modelId="{7540C9FD-9AC8-0C44-8FF4-4A04FF40A565}" type="pres">
      <dgm:prSet presAssocID="{39EDE778-9C1A-4043-AFB9-6AB95307AD70}" presName="node" presStyleLbl="node1" presStyleIdx="3" presStyleCnt="4">
        <dgm:presLayoutVars>
          <dgm:bulletEnabled val="1"/>
        </dgm:presLayoutVars>
      </dgm:prSet>
      <dgm:spPr/>
    </dgm:pt>
  </dgm:ptLst>
  <dgm:cxnLst>
    <dgm:cxn modelId="{2B0DA311-A14D-4580-829D-528B52E9D837}" srcId="{AD33E17B-BA0D-4A3F-B777-A7FE59B4BA0E}" destId="{ADABBD85-6FC6-4A1E-B81C-D2EE9B3E2D0D}" srcOrd="0" destOrd="0" parTransId="{920B7FCE-21CF-442E-867D-2888B6EEA8FF}" sibTransId="{4ABE58EF-A818-41BD-8852-9F53E219AD48}"/>
    <dgm:cxn modelId="{B2E2871B-2111-8D4D-81D1-CDE07E9CFFBA}" type="presOf" srcId="{AD33E17B-BA0D-4A3F-B777-A7FE59B4BA0E}" destId="{AB2D60DF-FCA7-B241-AE18-C2C0625FCAE1}" srcOrd="0" destOrd="0" presId="urn:microsoft.com/office/officeart/2016/7/layout/RepeatingBendingProcessNew"/>
    <dgm:cxn modelId="{7391B229-7F21-A44C-A777-6BD10BABB1C1}" type="presOf" srcId="{ED617855-CD92-48F0-8F09-938CA5DB5370}" destId="{162DAAC2-FF70-EC4E-B200-79BFADB6C53D}" srcOrd="1" destOrd="0" presId="urn:microsoft.com/office/officeart/2016/7/layout/RepeatingBendingProcessNew"/>
    <dgm:cxn modelId="{1938B83B-F8FC-2442-9CDE-3AC5854F93E8}" type="presOf" srcId="{39EDE778-9C1A-4043-AFB9-6AB95307AD70}" destId="{7540C9FD-9AC8-0C44-8FF4-4A04FF40A565}" srcOrd="0" destOrd="0" presId="urn:microsoft.com/office/officeart/2016/7/layout/RepeatingBendingProcessNew"/>
    <dgm:cxn modelId="{AFE6B951-C5F2-3B4F-AABE-6A5ABFC9DC04}" type="presOf" srcId="{4ABE58EF-A818-41BD-8852-9F53E219AD48}" destId="{6CBB360F-7CA1-C14B-85FD-562B267CFCDF}" srcOrd="1" destOrd="0" presId="urn:microsoft.com/office/officeart/2016/7/layout/RepeatingBendingProcessNew"/>
    <dgm:cxn modelId="{517F6E53-8F6C-FC4A-9B07-E08FD447738E}" type="presOf" srcId="{ADABBD85-6FC6-4A1E-B81C-D2EE9B3E2D0D}" destId="{5F70A50F-D327-EE40-84DA-0E13E03968CC}" srcOrd="0" destOrd="0" presId="urn:microsoft.com/office/officeart/2016/7/layout/RepeatingBendingProcessNew"/>
    <dgm:cxn modelId="{22880B5A-D279-D74F-83E5-9284A0DC5F55}" type="presOf" srcId="{4ABE58EF-A818-41BD-8852-9F53E219AD48}" destId="{8CC6DC67-6630-134C-AF53-1CE0E5695AD7}" srcOrd="0" destOrd="0" presId="urn:microsoft.com/office/officeart/2016/7/layout/RepeatingBendingProcessNew"/>
    <dgm:cxn modelId="{322F7484-7FD0-4A72-AF79-5FE3DDB383BE}" srcId="{AD33E17B-BA0D-4A3F-B777-A7FE59B4BA0E}" destId="{EC490959-B9AD-4748-BB51-E0BDBB9AF144}" srcOrd="1" destOrd="0" parTransId="{D40E2C55-2691-4FD6-8087-1C413BDFE3D2}" sibTransId="{1C223485-65C3-4267-BC67-3F25A6D156DB}"/>
    <dgm:cxn modelId="{704A3F8B-2A64-E940-9081-A680DBC7852A}" type="presOf" srcId="{1C223485-65C3-4267-BC67-3F25A6D156DB}" destId="{6075610F-4B23-4248-BD00-25EAC9D30412}" srcOrd="0" destOrd="0" presId="urn:microsoft.com/office/officeart/2016/7/layout/RepeatingBendingProcessNew"/>
    <dgm:cxn modelId="{587A07A0-AA23-4745-A144-C016D33970D1}" type="presOf" srcId="{7BEA5F66-3119-40A9-AA8D-57F8E828C515}" destId="{2C6CB7F1-3CB3-8F49-8716-DC97122D0F47}" srcOrd="0" destOrd="0" presId="urn:microsoft.com/office/officeart/2016/7/layout/RepeatingBendingProcessNew"/>
    <dgm:cxn modelId="{628086AE-B639-4C36-8C6C-9DEFB2693905}" srcId="{AD33E17B-BA0D-4A3F-B777-A7FE59B4BA0E}" destId="{39EDE778-9C1A-4043-AFB9-6AB95307AD70}" srcOrd="3" destOrd="0" parTransId="{E83DDAF8-D8E8-4A1A-8D35-E653173CAB3E}" sibTransId="{7FD12BC9-80E4-4B45-9191-96B7E6DCBB78}"/>
    <dgm:cxn modelId="{3B488ECA-0C61-0E4B-B986-FBC3E611F453}" type="presOf" srcId="{EC490959-B9AD-4748-BB51-E0BDBB9AF144}" destId="{CA066B77-5600-7E42-B612-5BB60DD0FFF9}" srcOrd="0" destOrd="0" presId="urn:microsoft.com/office/officeart/2016/7/layout/RepeatingBendingProcessNew"/>
    <dgm:cxn modelId="{A5676ECE-D3B8-41DC-82C8-01E4D0A3DC94}" srcId="{AD33E17B-BA0D-4A3F-B777-A7FE59B4BA0E}" destId="{7BEA5F66-3119-40A9-AA8D-57F8E828C515}" srcOrd="2" destOrd="0" parTransId="{79BF3565-A803-48AA-AE17-03C270B60E4A}" sibTransId="{ED617855-CD92-48F0-8F09-938CA5DB5370}"/>
    <dgm:cxn modelId="{8A36FFCF-C702-3C41-8B8F-1D54526067A5}" type="presOf" srcId="{1C223485-65C3-4267-BC67-3F25A6D156DB}" destId="{E54CF3F7-3D26-2549-8416-21247F1E7741}" srcOrd="1" destOrd="0" presId="urn:microsoft.com/office/officeart/2016/7/layout/RepeatingBendingProcessNew"/>
    <dgm:cxn modelId="{55A1ADFC-176C-604D-A6E0-9CF19FE110E1}" type="presOf" srcId="{ED617855-CD92-48F0-8F09-938CA5DB5370}" destId="{B22A13B3-850D-A040-8B58-2EEE8080C0F4}" srcOrd="0" destOrd="0" presId="urn:microsoft.com/office/officeart/2016/7/layout/RepeatingBendingProcessNew"/>
    <dgm:cxn modelId="{94931D2F-C91C-1A40-A1D1-A2750699FD35}" type="presParOf" srcId="{AB2D60DF-FCA7-B241-AE18-C2C0625FCAE1}" destId="{5F70A50F-D327-EE40-84DA-0E13E03968CC}" srcOrd="0" destOrd="0" presId="urn:microsoft.com/office/officeart/2016/7/layout/RepeatingBendingProcessNew"/>
    <dgm:cxn modelId="{FA7D4EB8-61A7-F44F-B2F5-DDA3D950909F}" type="presParOf" srcId="{AB2D60DF-FCA7-B241-AE18-C2C0625FCAE1}" destId="{8CC6DC67-6630-134C-AF53-1CE0E5695AD7}" srcOrd="1" destOrd="0" presId="urn:microsoft.com/office/officeart/2016/7/layout/RepeatingBendingProcessNew"/>
    <dgm:cxn modelId="{38B7835F-02D4-9649-B3E7-283E0EC73E62}" type="presParOf" srcId="{8CC6DC67-6630-134C-AF53-1CE0E5695AD7}" destId="{6CBB360F-7CA1-C14B-85FD-562B267CFCDF}" srcOrd="0" destOrd="0" presId="urn:microsoft.com/office/officeart/2016/7/layout/RepeatingBendingProcessNew"/>
    <dgm:cxn modelId="{EDA89AAC-425D-CC4A-8C60-92ED3D9EBCF4}" type="presParOf" srcId="{AB2D60DF-FCA7-B241-AE18-C2C0625FCAE1}" destId="{CA066B77-5600-7E42-B612-5BB60DD0FFF9}" srcOrd="2" destOrd="0" presId="urn:microsoft.com/office/officeart/2016/7/layout/RepeatingBendingProcessNew"/>
    <dgm:cxn modelId="{2A5B6CDE-F104-DB46-A91A-01C5901A40D0}" type="presParOf" srcId="{AB2D60DF-FCA7-B241-AE18-C2C0625FCAE1}" destId="{6075610F-4B23-4248-BD00-25EAC9D30412}" srcOrd="3" destOrd="0" presId="urn:microsoft.com/office/officeart/2016/7/layout/RepeatingBendingProcessNew"/>
    <dgm:cxn modelId="{F726C8AA-27D2-6549-A83E-3B8560A45550}" type="presParOf" srcId="{6075610F-4B23-4248-BD00-25EAC9D30412}" destId="{E54CF3F7-3D26-2549-8416-21247F1E7741}" srcOrd="0" destOrd="0" presId="urn:microsoft.com/office/officeart/2016/7/layout/RepeatingBendingProcessNew"/>
    <dgm:cxn modelId="{826CA2C9-A876-DC48-939F-4777CEEEB545}" type="presParOf" srcId="{AB2D60DF-FCA7-B241-AE18-C2C0625FCAE1}" destId="{2C6CB7F1-3CB3-8F49-8716-DC97122D0F47}" srcOrd="4" destOrd="0" presId="urn:microsoft.com/office/officeart/2016/7/layout/RepeatingBendingProcessNew"/>
    <dgm:cxn modelId="{2CB5E3AE-B3C2-1846-A409-3C5A32BB862D}" type="presParOf" srcId="{AB2D60DF-FCA7-B241-AE18-C2C0625FCAE1}" destId="{B22A13B3-850D-A040-8B58-2EEE8080C0F4}" srcOrd="5" destOrd="0" presId="urn:microsoft.com/office/officeart/2016/7/layout/RepeatingBendingProcessNew"/>
    <dgm:cxn modelId="{21F20830-492A-2D4F-AD93-C0BDB04B7D39}" type="presParOf" srcId="{B22A13B3-850D-A040-8B58-2EEE8080C0F4}" destId="{162DAAC2-FF70-EC4E-B200-79BFADB6C53D}" srcOrd="0" destOrd="0" presId="urn:microsoft.com/office/officeart/2016/7/layout/RepeatingBendingProcessNew"/>
    <dgm:cxn modelId="{FB8FD15A-0819-8147-88DD-6F8CDFD85A0B}" type="presParOf" srcId="{AB2D60DF-FCA7-B241-AE18-C2C0625FCAE1}" destId="{7540C9FD-9AC8-0C44-8FF4-4A04FF40A565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CE3675-DBB1-49D2-AE92-1BA71DFF5930}" type="doc">
      <dgm:prSet loTypeId="urn:microsoft.com/office/officeart/2018/2/layout/IconVerticalSolidList" loCatId="icon" qsTypeId="urn:microsoft.com/office/officeart/2005/8/quickstyle/simple1#186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37C8DAE-6C74-4DF9-8611-C8184F10325E}">
      <dgm:prSet/>
      <dgm:spPr/>
      <dgm:t>
        <a:bodyPr/>
        <a:lstStyle/>
        <a:p>
          <a:r>
            <a:rPr lang="en-DE" b="1"/>
            <a:t>Workflow Modularity:</a:t>
          </a:r>
          <a:r>
            <a:rPr lang="en-DE"/>
            <a:t> Automated data ingestion, cleaning, feature transformation, and visualization inside an end-to-end reproducible pipeline.</a:t>
          </a:r>
          <a:endParaRPr lang="en-US"/>
        </a:p>
      </dgm:t>
    </dgm:pt>
    <dgm:pt modelId="{60D10EC2-0279-48E2-BBA2-D7FDDC15DCEB}" type="parTrans" cxnId="{A8851042-CE37-4EA9-9736-CC9A7E95FAC8}">
      <dgm:prSet/>
      <dgm:spPr/>
      <dgm:t>
        <a:bodyPr/>
        <a:lstStyle/>
        <a:p>
          <a:endParaRPr lang="en-US"/>
        </a:p>
      </dgm:t>
    </dgm:pt>
    <dgm:pt modelId="{6AAECAF4-2855-4B89-9C02-D17BA673D0A1}" type="sibTrans" cxnId="{A8851042-CE37-4EA9-9736-CC9A7E95FAC8}">
      <dgm:prSet/>
      <dgm:spPr/>
      <dgm:t>
        <a:bodyPr/>
        <a:lstStyle/>
        <a:p>
          <a:endParaRPr lang="en-US"/>
        </a:p>
      </dgm:t>
    </dgm:pt>
    <dgm:pt modelId="{CBEDA4DB-8C79-442D-98AA-3E181095FDB4}">
      <dgm:prSet/>
      <dgm:spPr/>
      <dgm:t>
        <a:bodyPr/>
        <a:lstStyle/>
        <a:p>
          <a:r>
            <a:rPr lang="en-DE" b="1"/>
            <a:t>Analytical Scale:</a:t>
          </a:r>
          <a:r>
            <a:rPr lang="en-DE"/>
            <a:t> Processed 3,676 course records across 4 primary learning domains with zero data leakage.</a:t>
          </a:r>
          <a:endParaRPr lang="en-US"/>
        </a:p>
      </dgm:t>
    </dgm:pt>
    <dgm:pt modelId="{216B601D-4E0E-4485-AC2E-59D72348E0E6}" type="parTrans" cxnId="{9651C4BC-9279-4408-9510-B506E1BAB23A}">
      <dgm:prSet/>
      <dgm:spPr/>
      <dgm:t>
        <a:bodyPr/>
        <a:lstStyle/>
        <a:p>
          <a:endParaRPr lang="en-US"/>
        </a:p>
      </dgm:t>
    </dgm:pt>
    <dgm:pt modelId="{8762E075-3891-4103-88FD-9E303C926950}" type="sibTrans" cxnId="{9651C4BC-9279-4408-9510-B506E1BAB23A}">
      <dgm:prSet/>
      <dgm:spPr/>
      <dgm:t>
        <a:bodyPr/>
        <a:lstStyle/>
        <a:p>
          <a:endParaRPr lang="en-US"/>
        </a:p>
      </dgm:t>
    </dgm:pt>
    <dgm:pt modelId="{F7122D17-4882-4B1C-9984-A6FC1E429DF0}">
      <dgm:prSet/>
      <dgm:spPr/>
      <dgm:t>
        <a:bodyPr/>
        <a:lstStyle/>
        <a:p>
          <a:r>
            <a:rPr lang="en-DE" b="1"/>
            <a:t>Dynamic Interactivity:</a:t>
          </a:r>
          <a:r>
            <a:rPr lang="en-DE"/>
            <a:t> Implemented responsive Nominal Row Filter Widgets linked across 8 chart types for real-time exploratory data analysis.</a:t>
          </a:r>
          <a:endParaRPr lang="en-US"/>
        </a:p>
      </dgm:t>
    </dgm:pt>
    <dgm:pt modelId="{125CD67D-3715-46B2-9AC1-B6F56EC326A9}" type="parTrans" cxnId="{18185C61-0BC8-4D0B-B913-E5151AF2116C}">
      <dgm:prSet/>
      <dgm:spPr/>
      <dgm:t>
        <a:bodyPr/>
        <a:lstStyle/>
        <a:p>
          <a:endParaRPr lang="en-US"/>
        </a:p>
      </dgm:t>
    </dgm:pt>
    <dgm:pt modelId="{3616652C-1961-44BF-BD9F-AB1D160D1AFB}" type="sibTrans" cxnId="{18185C61-0BC8-4D0B-B913-E5151AF2116C}">
      <dgm:prSet/>
      <dgm:spPr/>
      <dgm:t>
        <a:bodyPr/>
        <a:lstStyle/>
        <a:p>
          <a:endParaRPr lang="en-US"/>
        </a:p>
      </dgm:t>
    </dgm:pt>
    <dgm:pt modelId="{03AEE403-EB20-432C-80DF-3DCA4B0DCE0A}">
      <dgm:prSet/>
      <dgm:spPr/>
      <dgm:t>
        <a:bodyPr/>
        <a:lstStyle/>
        <a:p>
          <a:r>
            <a:rPr lang="en-DE" b="1"/>
            <a:t>Production Ready:</a:t>
          </a:r>
          <a:r>
            <a:rPr lang="en-DE"/>
            <a:t> Encapsulated inside a self-contained KNIME Master Component, ready for deployment as an interactive web data app.</a:t>
          </a:r>
          <a:endParaRPr lang="en-US"/>
        </a:p>
      </dgm:t>
    </dgm:pt>
    <dgm:pt modelId="{6A3BFC54-46A6-4A95-ADDA-85E8FBB14EFA}" type="parTrans" cxnId="{1AC98A74-7D1C-468B-8817-6ADC2F189E2F}">
      <dgm:prSet/>
      <dgm:spPr/>
      <dgm:t>
        <a:bodyPr/>
        <a:lstStyle/>
        <a:p>
          <a:endParaRPr lang="en-US"/>
        </a:p>
      </dgm:t>
    </dgm:pt>
    <dgm:pt modelId="{F41FFD00-E0AE-4FFD-8FB7-79334D8DE0DE}" type="sibTrans" cxnId="{1AC98A74-7D1C-468B-8817-6ADC2F189E2F}">
      <dgm:prSet/>
      <dgm:spPr/>
      <dgm:t>
        <a:bodyPr/>
        <a:lstStyle/>
        <a:p>
          <a:endParaRPr lang="en-US"/>
        </a:p>
      </dgm:t>
    </dgm:pt>
    <dgm:pt modelId="{8DA62037-5F89-4FA7-89ED-C52E29A4DE73}" type="pres">
      <dgm:prSet presAssocID="{5FCE3675-DBB1-49D2-AE92-1BA71DFF5930}" presName="root" presStyleCnt="0">
        <dgm:presLayoutVars>
          <dgm:dir/>
          <dgm:resizeHandles val="exact"/>
        </dgm:presLayoutVars>
      </dgm:prSet>
      <dgm:spPr/>
    </dgm:pt>
    <dgm:pt modelId="{7218879C-6B4E-4602-B251-7D254DF12B71}" type="pres">
      <dgm:prSet presAssocID="{837C8DAE-6C74-4DF9-8611-C8184F10325E}" presName="compNode" presStyleCnt="0"/>
      <dgm:spPr/>
    </dgm:pt>
    <dgm:pt modelId="{DF9D908D-D7F2-4BA3-882D-7EAEEEEB6467}" type="pres">
      <dgm:prSet presAssocID="{837C8DAE-6C74-4DF9-8611-C8184F10325E}" presName="bgRect" presStyleLbl="bgShp" presStyleIdx="0" presStyleCnt="4"/>
      <dgm:spPr/>
    </dgm:pt>
    <dgm:pt modelId="{DD9FC71E-D5B7-4445-9BF2-FA0533BA2EB6}" type="pres">
      <dgm:prSet presAssocID="{837C8DAE-6C74-4DF9-8611-C8184F10325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2CB99AD-EB20-4602-97CE-6D31949A6BE0}" type="pres">
      <dgm:prSet presAssocID="{837C8DAE-6C74-4DF9-8611-C8184F10325E}" presName="spaceRect" presStyleCnt="0"/>
      <dgm:spPr/>
    </dgm:pt>
    <dgm:pt modelId="{42180223-B106-4A7B-B7B2-6FE343E02FD6}" type="pres">
      <dgm:prSet presAssocID="{837C8DAE-6C74-4DF9-8611-C8184F10325E}" presName="parTx" presStyleLbl="revTx" presStyleIdx="0" presStyleCnt="4">
        <dgm:presLayoutVars>
          <dgm:chMax val="0"/>
          <dgm:chPref val="0"/>
        </dgm:presLayoutVars>
      </dgm:prSet>
      <dgm:spPr/>
    </dgm:pt>
    <dgm:pt modelId="{847BDE22-14E2-4DD1-96AD-FA22E8484899}" type="pres">
      <dgm:prSet presAssocID="{6AAECAF4-2855-4B89-9C02-D17BA673D0A1}" presName="sibTrans" presStyleCnt="0"/>
      <dgm:spPr/>
    </dgm:pt>
    <dgm:pt modelId="{038611FD-4A15-4384-9478-EFE702D22A83}" type="pres">
      <dgm:prSet presAssocID="{CBEDA4DB-8C79-442D-98AA-3E181095FDB4}" presName="compNode" presStyleCnt="0"/>
      <dgm:spPr/>
    </dgm:pt>
    <dgm:pt modelId="{06BA118A-051C-452D-AEFA-F33BA2DF188F}" type="pres">
      <dgm:prSet presAssocID="{CBEDA4DB-8C79-442D-98AA-3E181095FDB4}" presName="bgRect" presStyleLbl="bgShp" presStyleIdx="1" presStyleCnt="4"/>
      <dgm:spPr/>
    </dgm:pt>
    <dgm:pt modelId="{FAF54C73-DD38-4F7D-BE95-D5DC57621BA5}" type="pres">
      <dgm:prSet presAssocID="{CBEDA4DB-8C79-442D-98AA-3E181095FDB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F5D5074-13BD-4F73-BD6C-B1DF94297C76}" type="pres">
      <dgm:prSet presAssocID="{CBEDA4DB-8C79-442D-98AA-3E181095FDB4}" presName="spaceRect" presStyleCnt="0"/>
      <dgm:spPr/>
    </dgm:pt>
    <dgm:pt modelId="{093A66B9-2791-4A37-9E2A-F359CDA56E3A}" type="pres">
      <dgm:prSet presAssocID="{CBEDA4DB-8C79-442D-98AA-3E181095FDB4}" presName="parTx" presStyleLbl="revTx" presStyleIdx="1" presStyleCnt="4">
        <dgm:presLayoutVars>
          <dgm:chMax val="0"/>
          <dgm:chPref val="0"/>
        </dgm:presLayoutVars>
      </dgm:prSet>
      <dgm:spPr/>
    </dgm:pt>
    <dgm:pt modelId="{E681188B-69AC-4289-901F-8759C5D7B6F6}" type="pres">
      <dgm:prSet presAssocID="{8762E075-3891-4103-88FD-9E303C926950}" presName="sibTrans" presStyleCnt="0"/>
      <dgm:spPr/>
    </dgm:pt>
    <dgm:pt modelId="{4678C612-11DC-4555-A087-3AF1D3C841F7}" type="pres">
      <dgm:prSet presAssocID="{F7122D17-4882-4B1C-9984-A6FC1E429DF0}" presName="compNode" presStyleCnt="0"/>
      <dgm:spPr/>
    </dgm:pt>
    <dgm:pt modelId="{74C7B24F-544E-4096-8CC3-E86822126248}" type="pres">
      <dgm:prSet presAssocID="{F7122D17-4882-4B1C-9984-A6FC1E429DF0}" presName="bgRect" presStyleLbl="bgShp" presStyleIdx="2" presStyleCnt="4"/>
      <dgm:spPr/>
    </dgm:pt>
    <dgm:pt modelId="{0FEA2E0F-F719-4F95-9529-669B43CEFF35}" type="pres">
      <dgm:prSet presAssocID="{F7122D17-4882-4B1C-9984-A6FC1E429DF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36054B0-B2A7-4A76-9FF8-61BA84945FC6}" type="pres">
      <dgm:prSet presAssocID="{F7122D17-4882-4B1C-9984-A6FC1E429DF0}" presName="spaceRect" presStyleCnt="0"/>
      <dgm:spPr/>
    </dgm:pt>
    <dgm:pt modelId="{F3E70229-4A5B-4D65-9875-F22CF02F962D}" type="pres">
      <dgm:prSet presAssocID="{F7122D17-4882-4B1C-9984-A6FC1E429DF0}" presName="parTx" presStyleLbl="revTx" presStyleIdx="2" presStyleCnt="4">
        <dgm:presLayoutVars>
          <dgm:chMax val="0"/>
          <dgm:chPref val="0"/>
        </dgm:presLayoutVars>
      </dgm:prSet>
      <dgm:spPr/>
    </dgm:pt>
    <dgm:pt modelId="{56484B41-6D38-4BA2-B65A-C23B31549B53}" type="pres">
      <dgm:prSet presAssocID="{3616652C-1961-44BF-BD9F-AB1D160D1AFB}" presName="sibTrans" presStyleCnt="0"/>
      <dgm:spPr/>
    </dgm:pt>
    <dgm:pt modelId="{9BFDF476-038D-425B-B22A-C9A0BD994B51}" type="pres">
      <dgm:prSet presAssocID="{03AEE403-EB20-432C-80DF-3DCA4B0DCE0A}" presName="compNode" presStyleCnt="0"/>
      <dgm:spPr/>
    </dgm:pt>
    <dgm:pt modelId="{7D52FBBE-821D-45AD-8216-62F0EFD83DED}" type="pres">
      <dgm:prSet presAssocID="{03AEE403-EB20-432C-80DF-3DCA4B0DCE0A}" presName="bgRect" presStyleLbl="bgShp" presStyleIdx="3" presStyleCnt="4"/>
      <dgm:spPr/>
    </dgm:pt>
    <dgm:pt modelId="{0F50FE1C-4952-46EA-B644-8085EE1C7592}" type="pres">
      <dgm:prSet presAssocID="{03AEE403-EB20-432C-80DF-3DCA4B0DCE0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5C9DAEE-6266-42B3-9C83-1CE1B79CB003}" type="pres">
      <dgm:prSet presAssocID="{03AEE403-EB20-432C-80DF-3DCA4B0DCE0A}" presName="spaceRect" presStyleCnt="0"/>
      <dgm:spPr/>
    </dgm:pt>
    <dgm:pt modelId="{C5F117FC-D653-4164-85F8-450BCD199EEA}" type="pres">
      <dgm:prSet presAssocID="{03AEE403-EB20-432C-80DF-3DCA4B0DCE0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1B69D23-0675-4F6D-B850-EE05CEA7E5E6}" type="presOf" srcId="{837C8DAE-6C74-4DF9-8611-C8184F10325E}" destId="{42180223-B106-4A7B-B7B2-6FE343E02FD6}" srcOrd="0" destOrd="0" presId="urn:microsoft.com/office/officeart/2018/2/layout/IconVerticalSolidList"/>
    <dgm:cxn modelId="{A8851042-CE37-4EA9-9736-CC9A7E95FAC8}" srcId="{5FCE3675-DBB1-49D2-AE92-1BA71DFF5930}" destId="{837C8DAE-6C74-4DF9-8611-C8184F10325E}" srcOrd="0" destOrd="0" parTransId="{60D10EC2-0279-48E2-BBA2-D7FDDC15DCEB}" sibTransId="{6AAECAF4-2855-4B89-9C02-D17BA673D0A1}"/>
    <dgm:cxn modelId="{18185C61-0BC8-4D0B-B913-E5151AF2116C}" srcId="{5FCE3675-DBB1-49D2-AE92-1BA71DFF5930}" destId="{F7122D17-4882-4B1C-9984-A6FC1E429DF0}" srcOrd="2" destOrd="0" parTransId="{125CD67D-3715-46B2-9AC1-B6F56EC326A9}" sibTransId="{3616652C-1961-44BF-BD9F-AB1D160D1AFB}"/>
    <dgm:cxn modelId="{1AC98A74-7D1C-468B-8817-6ADC2F189E2F}" srcId="{5FCE3675-DBB1-49D2-AE92-1BA71DFF5930}" destId="{03AEE403-EB20-432C-80DF-3DCA4B0DCE0A}" srcOrd="3" destOrd="0" parTransId="{6A3BFC54-46A6-4A95-ADDA-85E8FBB14EFA}" sibTransId="{F41FFD00-E0AE-4FFD-8FB7-79334D8DE0DE}"/>
    <dgm:cxn modelId="{A4F2E078-FB91-4162-BB24-2B490F2CD65B}" type="presOf" srcId="{03AEE403-EB20-432C-80DF-3DCA4B0DCE0A}" destId="{C5F117FC-D653-4164-85F8-450BCD199EEA}" srcOrd="0" destOrd="0" presId="urn:microsoft.com/office/officeart/2018/2/layout/IconVerticalSolidList"/>
    <dgm:cxn modelId="{5B79529D-9247-4909-A91C-92F12F92F446}" type="presOf" srcId="{CBEDA4DB-8C79-442D-98AA-3E181095FDB4}" destId="{093A66B9-2791-4A37-9E2A-F359CDA56E3A}" srcOrd="0" destOrd="0" presId="urn:microsoft.com/office/officeart/2018/2/layout/IconVerticalSolidList"/>
    <dgm:cxn modelId="{9651C4BC-9279-4408-9510-B506E1BAB23A}" srcId="{5FCE3675-DBB1-49D2-AE92-1BA71DFF5930}" destId="{CBEDA4DB-8C79-442D-98AA-3E181095FDB4}" srcOrd="1" destOrd="0" parTransId="{216B601D-4E0E-4485-AC2E-59D72348E0E6}" sibTransId="{8762E075-3891-4103-88FD-9E303C926950}"/>
    <dgm:cxn modelId="{E8CD5DC9-63D3-440A-9EDA-A67E06AFBE36}" type="presOf" srcId="{5FCE3675-DBB1-49D2-AE92-1BA71DFF5930}" destId="{8DA62037-5F89-4FA7-89ED-C52E29A4DE73}" srcOrd="0" destOrd="0" presId="urn:microsoft.com/office/officeart/2018/2/layout/IconVerticalSolidList"/>
    <dgm:cxn modelId="{62A88DFE-5B70-4381-9820-366359814CB9}" type="presOf" srcId="{F7122D17-4882-4B1C-9984-A6FC1E429DF0}" destId="{F3E70229-4A5B-4D65-9875-F22CF02F962D}" srcOrd="0" destOrd="0" presId="urn:microsoft.com/office/officeart/2018/2/layout/IconVerticalSolidList"/>
    <dgm:cxn modelId="{166FFA11-88D9-45C3-8F32-A2954DBEF8CB}" type="presParOf" srcId="{8DA62037-5F89-4FA7-89ED-C52E29A4DE73}" destId="{7218879C-6B4E-4602-B251-7D254DF12B71}" srcOrd="0" destOrd="0" presId="urn:microsoft.com/office/officeart/2018/2/layout/IconVerticalSolidList"/>
    <dgm:cxn modelId="{9D093DA0-79A3-4A1F-92A3-5752EB37CCEB}" type="presParOf" srcId="{7218879C-6B4E-4602-B251-7D254DF12B71}" destId="{DF9D908D-D7F2-4BA3-882D-7EAEEEEB6467}" srcOrd="0" destOrd="0" presId="urn:microsoft.com/office/officeart/2018/2/layout/IconVerticalSolidList"/>
    <dgm:cxn modelId="{B341E098-52F4-43FB-922B-B7049053F78C}" type="presParOf" srcId="{7218879C-6B4E-4602-B251-7D254DF12B71}" destId="{DD9FC71E-D5B7-4445-9BF2-FA0533BA2EB6}" srcOrd="1" destOrd="0" presId="urn:microsoft.com/office/officeart/2018/2/layout/IconVerticalSolidList"/>
    <dgm:cxn modelId="{EFB15755-FF93-410D-BDA9-A480BD47A016}" type="presParOf" srcId="{7218879C-6B4E-4602-B251-7D254DF12B71}" destId="{82CB99AD-EB20-4602-97CE-6D31949A6BE0}" srcOrd="2" destOrd="0" presId="urn:microsoft.com/office/officeart/2018/2/layout/IconVerticalSolidList"/>
    <dgm:cxn modelId="{B47C907A-546F-41E1-9E9D-A415637D459C}" type="presParOf" srcId="{7218879C-6B4E-4602-B251-7D254DF12B71}" destId="{42180223-B106-4A7B-B7B2-6FE343E02FD6}" srcOrd="3" destOrd="0" presId="urn:microsoft.com/office/officeart/2018/2/layout/IconVerticalSolidList"/>
    <dgm:cxn modelId="{3964056D-A5AE-492A-9A81-7030D5C72747}" type="presParOf" srcId="{8DA62037-5F89-4FA7-89ED-C52E29A4DE73}" destId="{847BDE22-14E2-4DD1-96AD-FA22E8484899}" srcOrd="1" destOrd="0" presId="urn:microsoft.com/office/officeart/2018/2/layout/IconVerticalSolidList"/>
    <dgm:cxn modelId="{0BCB712E-D22D-4FBD-8AD3-D7C4E908D6EA}" type="presParOf" srcId="{8DA62037-5F89-4FA7-89ED-C52E29A4DE73}" destId="{038611FD-4A15-4384-9478-EFE702D22A83}" srcOrd="2" destOrd="0" presId="urn:microsoft.com/office/officeart/2018/2/layout/IconVerticalSolidList"/>
    <dgm:cxn modelId="{296CEBA9-BFC6-4CDC-B3CE-7BE04640E9F5}" type="presParOf" srcId="{038611FD-4A15-4384-9478-EFE702D22A83}" destId="{06BA118A-051C-452D-AEFA-F33BA2DF188F}" srcOrd="0" destOrd="0" presId="urn:microsoft.com/office/officeart/2018/2/layout/IconVerticalSolidList"/>
    <dgm:cxn modelId="{1F0881DC-33D6-46F4-BCDF-3B74AC2DAB28}" type="presParOf" srcId="{038611FD-4A15-4384-9478-EFE702D22A83}" destId="{FAF54C73-DD38-4F7D-BE95-D5DC57621BA5}" srcOrd="1" destOrd="0" presId="urn:microsoft.com/office/officeart/2018/2/layout/IconVerticalSolidList"/>
    <dgm:cxn modelId="{ADC7C74B-F4A2-44E8-BC92-F700A251813B}" type="presParOf" srcId="{038611FD-4A15-4384-9478-EFE702D22A83}" destId="{6F5D5074-13BD-4F73-BD6C-B1DF94297C76}" srcOrd="2" destOrd="0" presId="urn:microsoft.com/office/officeart/2018/2/layout/IconVerticalSolidList"/>
    <dgm:cxn modelId="{164722C8-24B1-4168-BDDB-E8E63D74892B}" type="presParOf" srcId="{038611FD-4A15-4384-9478-EFE702D22A83}" destId="{093A66B9-2791-4A37-9E2A-F359CDA56E3A}" srcOrd="3" destOrd="0" presId="urn:microsoft.com/office/officeart/2018/2/layout/IconVerticalSolidList"/>
    <dgm:cxn modelId="{933E1874-6E25-407D-AF85-E332EE0F5F47}" type="presParOf" srcId="{8DA62037-5F89-4FA7-89ED-C52E29A4DE73}" destId="{E681188B-69AC-4289-901F-8759C5D7B6F6}" srcOrd="3" destOrd="0" presId="urn:microsoft.com/office/officeart/2018/2/layout/IconVerticalSolidList"/>
    <dgm:cxn modelId="{89403E90-BD06-431A-BA6F-2138CBC6DA06}" type="presParOf" srcId="{8DA62037-5F89-4FA7-89ED-C52E29A4DE73}" destId="{4678C612-11DC-4555-A087-3AF1D3C841F7}" srcOrd="4" destOrd="0" presId="urn:microsoft.com/office/officeart/2018/2/layout/IconVerticalSolidList"/>
    <dgm:cxn modelId="{89F3EE5B-57D2-466F-936A-280B61583D24}" type="presParOf" srcId="{4678C612-11DC-4555-A087-3AF1D3C841F7}" destId="{74C7B24F-544E-4096-8CC3-E86822126248}" srcOrd="0" destOrd="0" presId="urn:microsoft.com/office/officeart/2018/2/layout/IconVerticalSolidList"/>
    <dgm:cxn modelId="{0E91C5D6-8909-4F44-8A97-EA56ED4C4DEB}" type="presParOf" srcId="{4678C612-11DC-4555-A087-3AF1D3C841F7}" destId="{0FEA2E0F-F719-4F95-9529-669B43CEFF35}" srcOrd="1" destOrd="0" presId="urn:microsoft.com/office/officeart/2018/2/layout/IconVerticalSolidList"/>
    <dgm:cxn modelId="{4A1E0D51-5F11-4E0C-BE55-11786DC6BB9B}" type="presParOf" srcId="{4678C612-11DC-4555-A087-3AF1D3C841F7}" destId="{236054B0-B2A7-4A76-9FF8-61BA84945FC6}" srcOrd="2" destOrd="0" presId="urn:microsoft.com/office/officeart/2018/2/layout/IconVerticalSolidList"/>
    <dgm:cxn modelId="{CEC3D7BA-244A-49FC-B5F4-43C4D4725E78}" type="presParOf" srcId="{4678C612-11DC-4555-A087-3AF1D3C841F7}" destId="{F3E70229-4A5B-4D65-9875-F22CF02F962D}" srcOrd="3" destOrd="0" presId="urn:microsoft.com/office/officeart/2018/2/layout/IconVerticalSolidList"/>
    <dgm:cxn modelId="{9617C779-2EA4-43F7-85C5-00A088B9D555}" type="presParOf" srcId="{8DA62037-5F89-4FA7-89ED-C52E29A4DE73}" destId="{56484B41-6D38-4BA2-B65A-C23B31549B53}" srcOrd="5" destOrd="0" presId="urn:microsoft.com/office/officeart/2018/2/layout/IconVerticalSolidList"/>
    <dgm:cxn modelId="{105B98EA-49C0-4ED8-A1A5-99C1F3D24CC0}" type="presParOf" srcId="{8DA62037-5F89-4FA7-89ED-C52E29A4DE73}" destId="{9BFDF476-038D-425B-B22A-C9A0BD994B51}" srcOrd="6" destOrd="0" presId="urn:microsoft.com/office/officeart/2018/2/layout/IconVerticalSolidList"/>
    <dgm:cxn modelId="{88691811-DADB-4C0F-B5FB-909FB78761A7}" type="presParOf" srcId="{9BFDF476-038D-425B-B22A-C9A0BD994B51}" destId="{7D52FBBE-821D-45AD-8216-62F0EFD83DED}" srcOrd="0" destOrd="0" presId="urn:microsoft.com/office/officeart/2018/2/layout/IconVerticalSolidList"/>
    <dgm:cxn modelId="{11F67656-D6FC-4254-8968-20C67AC52472}" type="presParOf" srcId="{9BFDF476-038D-425B-B22A-C9A0BD994B51}" destId="{0F50FE1C-4952-46EA-B644-8085EE1C7592}" srcOrd="1" destOrd="0" presId="urn:microsoft.com/office/officeart/2018/2/layout/IconVerticalSolidList"/>
    <dgm:cxn modelId="{AF28C2D3-E34D-456E-A6A8-4D874E1AE365}" type="presParOf" srcId="{9BFDF476-038D-425B-B22A-C9A0BD994B51}" destId="{75C9DAEE-6266-42B3-9C83-1CE1B79CB003}" srcOrd="2" destOrd="0" presId="urn:microsoft.com/office/officeart/2018/2/layout/IconVerticalSolidList"/>
    <dgm:cxn modelId="{7449D80A-CCF6-4E08-9C5D-F1D062118152}" type="presParOf" srcId="{9BFDF476-038D-425B-B22A-C9A0BD994B51}" destId="{C5F117FC-D653-4164-85F8-450BCD199E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6DC67-6630-134C-AF53-1CE0E5695AD7}">
      <dsp:nvSpPr>
        <dsp:cNvPr id="0" name=""/>
        <dsp:cNvSpPr/>
      </dsp:nvSpPr>
      <dsp:spPr>
        <a:xfrm>
          <a:off x="2766023" y="1555721"/>
          <a:ext cx="605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570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2966" y="1598259"/>
        <a:ext cx="31815" cy="6363"/>
      </dsp:txXfrm>
    </dsp:sp>
    <dsp:sp modelId="{5F70A50F-D327-EE40-84DA-0E13E03968CC}">
      <dsp:nvSpPr>
        <dsp:cNvPr id="0" name=""/>
        <dsp:cNvSpPr/>
      </dsp:nvSpPr>
      <dsp:spPr>
        <a:xfrm>
          <a:off x="1295" y="771482"/>
          <a:ext cx="2766527" cy="1659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562" tIns="142296" rIns="135562" bIns="1422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1" kern="1200"/>
            <a:t>1. Deploy a Freemium Acquisition Funnel:</a:t>
          </a:r>
          <a:r>
            <a:rPr lang="en-DE" sz="1400" kern="1200"/>
            <a:t> Publish a concise 1–2 hour free teaser course ($0) to capture massive top-of-funnel student volume, then cross-sell into a full premium masterclass.</a:t>
          </a:r>
          <a:endParaRPr lang="en-US" sz="1400" kern="1200"/>
        </a:p>
      </dsp:txBody>
      <dsp:txXfrm>
        <a:off x="1295" y="771482"/>
        <a:ext cx="2766527" cy="1659916"/>
      </dsp:txXfrm>
    </dsp:sp>
    <dsp:sp modelId="{6075610F-4B23-4248-BD00-25EAC9D30412}">
      <dsp:nvSpPr>
        <dsp:cNvPr id="0" name=""/>
        <dsp:cNvSpPr/>
      </dsp:nvSpPr>
      <dsp:spPr>
        <a:xfrm>
          <a:off x="1384559" y="2429599"/>
          <a:ext cx="3402828" cy="605701"/>
        </a:xfrm>
        <a:custGeom>
          <a:avLst/>
          <a:gdLst/>
          <a:ahLst/>
          <a:cxnLst/>
          <a:rect l="0" t="0" r="0" b="0"/>
          <a:pathLst>
            <a:path>
              <a:moveTo>
                <a:pt x="3402828" y="0"/>
              </a:moveTo>
              <a:lnTo>
                <a:pt x="3402828" y="319950"/>
              </a:lnTo>
              <a:lnTo>
                <a:pt x="0" y="319950"/>
              </a:lnTo>
              <a:lnTo>
                <a:pt x="0" y="605701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9428" y="2729268"/>
        <a:ext cx="173090" cy="6363"/>
      </dsp:txXfrm>
    </dsp:sp>
    <dsp:sp modelId="{CA066B77-5600-7E42-B612-5BB60DD0FFF9}">
      <dsp:nvSpPr>
        <dsp:cNvPr id="0" name=""/>
        <dsp:cNvSpPr/>
      </dsp:nvSpPr>
      <dsp:spPr>
        <a:xfrm>
          <a:off x="3404124" y="771482"/>
          <a:ext cx="2766527" cy="16599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562" tIns="142296" rIns="135562" bIns="1422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1" kern="1200"/>
            <a:t>2. Ride the High-ROI Tech Wave:</a:t>
          </a:r>
          <a:r>
            <a:rPr lang="en-DE" sz="1400" kern="1200"/>
            <a:t> Prioritize Web Development and applied software tracks, where learner demand and willingness to pay are over 5x higher than other domains.</a:t>
          </a:r>
          <a:endParaRPr lang="en-US" sz="1400" kern="1200"/>
        </a:p>
      </dsp:txBody>
      <dsp:txXfrm>
        <a:off x="3404124" y="771482"/>
        <a:ext cx="2766527" cy="1659916"/>
      </dsp:txXfrm>
    </dsp:sp>
    <dsp:sp modelId="{B22A13B3-850D-A040-8B58-2EEE8080C0F4}">
      <dsp:nvSpPr>
        <dsp:cNvPr id="0" name=""/>
        <dsp:cNvSpPr/>
      </dsp:nvSpPr>
      <dsp:spPr>
        <a:xfrm>
          <a:off x="2766023" y="3851938"/>
          <a:ext cx="605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5701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2966" y="3894477"/>
        <a:ext cx="31815" cy="6363"/>
      </dsp:txXfrm>
    </dsp:sp>
    <dsp:sp modelId="{2C6CB7F1-3CB3-8F49-8716-DC97122D0F47}">
      <dsp:nvSpPr>
        <dsp:cNvPr id="0" name=""/>
        <dsp:cNvSpPr/>
      </dsp:nvSpPr>
      <dsp:spPr>
        <a:xfrm>
          <a:off x="1295" y="3067700"/>
          <a:ext cx="2766527" cy="165991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562" tIns="142296" rIns="135562" bIns="1422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1" kern="1200"/>
            <a:t>3. Target the Beginner Core:</a:t>
          </a:r>
          <a:r>
            <a:rPr lang="en-DE" sz="1400" kern="1200"/>
            <a:t> Design for </a:t>
          </a:r>
          <a:r>
            <a:rPr lang="en-DE" sz="1400" i="1" kern="1200"/>
            <a:t>"Beginner"</a:t>
          </a:r>
          <a:r>
            <a:rPr lang="en-DE" sz="1400" kern="1200"/>
            <a:t> and </a:t>
          </a:r>
          <a:r>
            <a:rPr lang="en-DE" sz="1400" i="1" kern="1200"/>
            <a:t>"All Levels"</a:t>
          </a:r>
          <a:r>
            <a:rPr lang="en-DE" sz="1400" kern="1200"/>
            <a:t> to capture 85%+ of aggregate student demand, reserving </a:t>
          </a:r>
          <a:r>
            <a:rPr lang="en-DE" sz="1400" i="1" kern="1200"/>
            <a:t>"Expert"</a:t>
          </a:r>
          <a:r>
            <a:rPr lang="en-DE" sz="1400" kern="1200"/>
            <a:t> modules as high-ticket niche add-ons.</a:t>
          </a:r>
          <a:endParaRPr lang="en-US" sz="1400" kern="1200"/>
        </a:p>
      </dsp:txBody>
      <dsp:txXfrm>
        <a:off x="1295" y="3067700"/>
        <a:ext cx="2766527" cy="1659916"/>
      </dsp:txXfrm>
    </dsp:sp>
    <dsp:sp modelId="{7540C9FD-9AC8-0C44-8FF4-4A04FF40A565}">
      <dsp:nvSpPr>
        <dsp:cNvPr id="0" name=""/>
        <dsp:cNvSpPr/>
      </dsp:nvSpPr>
      <dsp:spPr>
        <a:xfrm>
          <a:off x="3404124" y="3067700"/>
          <a:ext cx="2766527" cy="165991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562" tIns="142296" rIns="135562" bIns="1422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1" kern="1200"/>
            <a:t>4. Ignite the Early Review Engine:</a:t>
          </a:r>
          <a:r>
            <a:rPr lang="en-DE" sz="1400" kern="1200"/>
            <a:t> Focus heavily on student onboarding in the first 30 days to build early review velocity, triggering the self-reinforcing social proof flywheel.</a:t>
          </a:r>
          <a:endParaRPr lang="en-US" sz="1400" kern="1200"/>
        </a:p>
      </dsp:txBody>
      <dsp:txXfrm>
        <a:off x="3404124" y="3067700"/>
        <a:ext cx="2766527" cy="16599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D908D-D7F2-4BA3-882D-7EAEEEEB6467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FC71E-D5B7-4445-9BF2-FA0533BA2EB6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80223-B106-4A7B-B7B2-6FE343E02FD6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/>
            <a:t>Workflow Modularity:</a:t>
          </a:r>
          <a:r>
            <a:rPr lang="en-DE" sz="1700" kern="1200"/>
            <a:t> Automated data ingestion, cleaning, feature transformation, and visualization inside an end-to-end reproducible pipeline.</a:t>
          </a:r>
          <a:endParaRPr lang="en-US" sz="1700" kern="1200"/>
        </a:p>
      </dsp:txBody>
      <dsp:txXfrm>
        <a:off x="1336039" y="2282"/>
        <a:ext cx="4835908" cy="1156744"/>
      </dsp:txXfrm>
    </dsp:sp>
    <dsp:sp modelId="{06BA118A-051C-452D-AEFA-F33BA2DF188F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54C73-DD38-4F7D-BE95-D5DC57621BA5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A66B9-2791-4A37-9E2A-F359CDA56E3A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/>
            <a:t>Analytical Scale:</a:t>
          </a:r>
          <a:r>
            <a:rPr lang="en-DE" sz="1700" kern="1200"/>
            <a:t> Processed 3,676 course records across 4 primary learning domains with zero data leakage.</a:t>
          </a:r>
          <a:endParaRPr lang="en-US" sz="1700" kern="1200"/>
        </a:p>
      </dsp:txBody>
      <dsp:txXfrm>
        <a:off x="1336039" y="1448212"/>
        <a:ext cx="4835908" cy="1156744"/>
      </dsp:txXfrm>
    </dsp:sp>
    <dsp:sp modelId="{74C7B24F-544E-4096-8CC3-E86822126248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A2E0F-F719-4F95-9529-669B43CEFF35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70229-4A5B-4D65-9875-F22CF02F962D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/>
            <a:t>Dynamic Interactivity:</a:t>
          </a:r>
          <a:r>
            <a:rPr lang="en-DE" sz="1700" kern="1200"/>
            <a:t> Implemented responsive Nominal Row Filter Widgets linked across 8 chart types for real-time exploratory data analysis.</a:t>
          </a:r>
          <a:endParaRPr lang="en-US" sz="1700" kern="1200"/>
        </a:p>
      </dsp:txBody>
      <dsp:txXfrm>
        <a:off x="1336039" y="2894143"/>
        <a:ext cx="4835908" cy="1156744"/>
      </dsp:txXfrm>
    </dsp:sp>
    <dsp:sp modelId="{7D52FBBE-821D-45AD-8216-62F0EFD83DED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0FE1C-4952-46EA-B644-8085EE1C7592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117FC-D653-4164-85F8-450BCD199EEA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/>
            <a:t>Production Ready:</a:t>
          </a:r>
          <a:r>
            <a:rPr lang="en-DE" sz="1700" kern="1200"/>
            <a:t> Encapsulated inside a self-contained KNIME Master Component, ready for deployment as an interactive web data app.</a:t>
          </a:r>
          <a:endParaRPr lang="en-US" sz="1700" kern="1200"/>
        </a:p>
      </dsp:txBody>
      <dsp:txXfrm>
        <a:off x="1336039" y="4340073"/>
        <a:ext cx="4835908" cy="1156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7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8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25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1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5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6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6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2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0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6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0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B1FE5BFE-C3C9-C018-27FE-6B92117EC57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4539"/>
            <a:ext cx="12188952" cy="2368866"/>
          </a:xfrm>
          <a:prstGeom prst="rect">
            <a:avLst/>
          </a:prstGeom>
          <a:gradFill>
            <a:gsLst>
              <a:gs pos="42000">
                <a:srgbClr val="000000">
                  <a:alpha val="16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2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5C64CB-DCB0-424A-8DFE-F09CBEE92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1328271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888006"/>
            <a:ext cx="12188952" cy="1969994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1B1679-86AB-0C6F-8DC1-14CE34D66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589743"/>
            <a:ext cx="6619874" cy="42014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DE" sz="4000" dirty="0"/>
              <a:t>Cracking the Udemy Code: How Data Solves the Creator's Dilemma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32B69-B4CB-6D96-2101-5903EA7EA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55816"/>
            <a:ext cx="5768784" cy="510984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r>
              <a:rPr lang="en-DE" sz="1400" dirty="0"/>
              <a:t>An Interactive KNIME Analytics Story on Demand, Monetization, and Course Success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CE84C-5D6A-6249-1EAB-DE71B0347275}"/>
              </a:ext>
            </a:extLst>
          </p:cNvPr>
          <p:cNvSpPr txBox="1"/>
          <p:nvPr/>
        </p:nvSpPr>
        <p:spPr>
          <a:xfrm>
            <a:off x="9027459" y="5063778"/>
            <a:ext cx="289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DE"/>
              <a:t>Name:Jilin Sebastian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4553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C09FE-A979-9D01-0A76-B1E75E18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DE" sz="2800"/>
              <a:t>Chapter 1: Engineering the Lens — From Raw Data to Actionable 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D43C1-CA9B-1589-6F68-AC126481D0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08" r="2" b="13851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5352CB-87AA-7A62-6A59-F253428FA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50933" y="4088705"/>
                <a:ext cx="6135924" cy="209397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DE" sz="1000"/>
                  <a:t>Raw catalog records alone don't explain success—they contain hidden patterns, uncalculated revenues, and unparsed timestamps.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DE" sz="1000" b="1"/>
                  <a:t>Ingesting Catalog Records:</a:t>
                </a:r>
                <a:r>
                  <a:rPr lang="en-DE" sz="1000"/>
                  <a:t> Imported 3,676+ courses across 4 distinct learning domains.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DE" sz="1000" b="1"/>
                  <a:t>Unlocking the Revenue Metric:</a:t>
                </a:r>
                <a:r>
                  <a:rPr lang="en-DE" sz="1000"/>
                  <a:t> Calculated financial performance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DE" sz="1000" i="0"/>
                      <m:t>Estimated Revenue</m:t>
                    </m:r>
                    <m:r>
                      <a:rPr lang="en-DE" sz="1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DE" sz="1000" i="0"/>
                      <m:t>Price</m:t>
                    </m:r>
                    <m:r>
                      <a:rPr lang="en-DE" sz="100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DE" sz="1000" i="0"/>
                      <m:t>Subscribers</m:t>
                    </m:r>
                  </m:oMath>
                </a14:m>
                <a:r>
                  <a:rPr lang="en-DE" sz="1000"/>
                  <a:t>) to separate high-traffic hobby courses from true revenue engines.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DE" sz="1000" b="1"/>
                  <a:t>Temporal Parsing:</a:t>
                </a:r>
                <a:r>
                  <a:rPr lang="en-DE" sz="1000"/>
                  <a:t> Converted unstructured timestamps into longitudinal time features (2011–2017).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DE" sz="1000" b="1"/>
                  <a:t>Single-Frame Encapsulation:</a:t>
                </a:r>
                <a:r>
                  <a:rPr lang="en-DE" sz="1000"/>
                  <a:t> Packaged the entire analytical pipeline into an interactive Master Dashboard.</a:t>
                </a:r>
              </a:p>
              <a:p>
                <a:pPr>
                  <a:lnSpc>
                    <a:spcPct val="100000"/>
                  </a:lnSpc>
                </a:pPr>
                <a:endParaRPr lang="en-DE" sz="1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5352CB-87AA-7A62-6A59-F253428FA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50933" y="4088705"/>
                <a:ext cx="6135924" cy="209397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3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E3B3D-5BA9-8A31-D82B-C92CACB2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4397556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DE" sz="2500"/>
              <a:t>Chapter 2: The Landscape — Tracing the Surge &amp; The Beginner Magnet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D3AD-2716-79E1-FD85-796BA78B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3"/>
            <a:ext cx="4397554" cy="398392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DE" sz="1600" b="1"/>
              <a:t>The Historic Gold Rush:</a:t>
            </a:r>
            <a:r>
              <a:rPr lang="en-DE" sz="1600"/>
              <a:t> Enrollments exploded between 2011 and 2015, peaking at over </a:t>
            </a:r>
            <a:r>
              <a:rPr lang="en-DE" sz="1600" b="1"/>
              <a:t>3.5M annual subscribers</a:t>
            </a:r>
            <a:r>
              <a:rPr lang="en-DE" sz="1600"/>
              <a:t> before maturing into a steady ecosystem.</a:t>
            </a:r>
          </a:p>
          <a:p>
            <a:pPr lvl="0">
              <a:lnSpc>
                <a:spcPct val="100000"/>
              </a:lnSpc>
            </a:pPr>
            <a:r>
              <a:rPr lang="en-DE" sz="1600" b="1"/>
              <a:t>The Mass Market Reality:</a:t>
            </a:r>
            <a:r>
              <a:rPr lang="en-DE" sz="1600"/>
              <a:t> Over </a:t>
            </a:r>
            <a:r>
              <a:rPr lang="en-DE" sz="1600" b="1"/>
              <a:t>85% of all learners</a:t>
            </a:r>
            <a:r>
              <a:rPr lang="en-DE" sz="1600"/>
              <a:t> congregate in </a:t>
            </a:r>
            <a:r>
              <a:rPr lang="en-DE" sz="1600" i="1"/>
              <a:t>"All Levels"</a:t>
            </a:r>
            <a:r>
              <a:rPr lang="en-DE" sz="1600"/>
              <a:t> (6.26M) and </a:t>
            </a:r>
            <a:r>
              <a:rPr lang="en-DE" sz="1600" i="1"/>
              <a:t>"Beginner Level"</a:t>
            </a:r>
            <a:r>
              <a:rPr lang="en-DE" sz="1600"/>
              <a:t> (4.14M) courses.</a:t>
            </a:r>
          </a:p>
          <a:p>
            <a:pPr lvl="0">
              <a:lnSpc>
                <a:spcPct val="100000"/>
              </a:lnSpc>
            </a:pPr>
            <a:r>
              <a:rPr lang="en-DE" sz="1600" b="1"/>
              <a:t>The Supply Alignment:</a:t>
            </a:r>
            <a:r>
              <a:rPr lang="en-DE" sz="1600"/>
              <a:t> Instructors have intuitively matched this demand by supplying primarily beginner-friendly content.</a:t>
            </a:r>
          </a:p>
          <a:p>
            <a:pPr lvl="0">
              <a:lnSpc>
                <a:spcPct val="100000"/>
              </a:lnSpc>
            </a:pPr>
            <a:r>
              <a:rPr lang="en-DE" sz="1600" b="1"/>
              <a:t>The Expert Paradox:</a:t>
            </a:r>
            <a:r>
              <a:rPr lang="en-DE" sz="1600"/>
              <a:t> </a:t>
            </a:r>
            <a:r>
              <a:rPr lang="en-DE" sz="1600" i="1"/>
              <a:t>"Expert Level"</a:t>
            </a:r>
            <a:r>
              <a:rPr lang="en-DE" sz="1600"/>
              <a:t> accounts for less than </a:t>
            </a:r>
            <a:r>
              <a:rPr lang="en-DE" sz="1600" b="1"/>
              <a:t>5% of enrollments</a:t>
            </a:r>
            <a:r>
              <a:rPr lang="en-DE" sz="1600"/>
              <a:t> (280k)—a warning for mass-volume seekers, but an open blue ocean for high-ticket specialization.</a:t>
            </a:r>
          </a:p>
          <a:p>
            <a:pPr>
              <a:lnSpc>
                <a:spcPct val="100000"/>
              </a:lnSpc>
            </a:pPr>
            <a:endParaRPr lang="en-DE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5AF7C-1627-6751-1D7C-BD888C2A1D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" r="-5" b="8318"/>
          <a:stretch>
            <a:fillRect/>
          </a:stretch>
        </p:blipFill>
        <p:spPr>
          <a:xfrm>
            <a:off x="5727208" y="882225"/>
            <a:ext cx="2659223" cy="181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F934EA-53D2-F556-27F3-09A425262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9" r="14559"/>
          <a:stretch>
            <a:fillRect/>
          </a:stretch>
        </p:blipFill>
        <p:spPr>
          <a:xfrm>
            <a:off x="8732678" y="723900"/>
            <a:ext cx="2223324" cy="1984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0963CC-6CAA-B33D-D5F4-9E273C6766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9" r="14479"/>
          <a:stretch>
            <a:fillRect/>
          </a:stretch>
        </p:blipFill>
        <p:spPr>
          <a:xfrm>
            <a:off x="6788606" y="2983043"/>
            <a:ext cx="3529687" cy="315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9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63C05-4E20-BE48-2FD0-D9D4CBD0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789" y="909637"/>
            <a:ext cx="6714698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DE" sz="3100"/>
              <a:t>Chapter 3: The Economics — Tech Dominance &amp; The Pricing Paradox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649B2-CE23-9B1A-DD32-70D3C6D0B7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493"/>
          <a:stretch>
            <a:fillRect/>
          </a:stretch>
        </p:blipFill>
        <p:spPr>
          <a:xfrm>
            <a:off x="483724" y="53011"/>
            <a:ext cx="4046541" cy="342899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D541F-8B1D-4D6A-969A-B9D7473A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66A4438-08F9-7423-DD31-73EF4BD25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" r="11284"/>
          <a:stretch>
            <a:fillRect/>
          </a:stretch>
        </p:blipFill>
        <p:spPr>
          <a:xfrm>
            <a:off x="483723" y="3429002"/>
            <a:ext cx="4046541" cy="34289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C908-0B31-4B17-D96C-E1F90A3D3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1788" y="2226374"/>
            <a:ext cx="6714698" cy="360321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DE" sz="1400" b="1"/>
              <a:t>The Revenue Giant:</a:t>
            </a:r>
            <a:r>
              <a:rPr lang="en-DE" sz="1400"/>
              <a:t> </a:t>
            </a:r>
            <a:r>
              <a:rPr lang="en-DE" sz="1400" b="1"/>
              <a:t>Web Development</a:t>
            </a:r>
            <a:r>
              <a:rPr lang="en-DE" sz="1400"/>
              <a:t> is the economic powerhouse of Udemy, generating </a:t>
            </a:r>
            <a:r>
              <a:rPr lang="en-DE" sz="1400" b="1"/>
              <a:t>~$631M</a:t>
            </a:r>
            <a:r>
              <a:rPr lang="en-DE" sz="1400"/>
              <a:t>—more than 5x the revenue of Business Finance (~$124M), Graphic Design (~$77M), and Music (~$53M) combined.</a:t>
            </a:r>
          </a:p>
          <a:p>
            <a:pPr lvl="0">
              <a:lnSpc>
                <a:spcPct val="100000"/>
              </a:lnSpc>
            </a:pPr>
            <a:r>
              <a:rPr lang="en-DE" sz="1400" b="1"/>
              <a:t>The Freemium Magnet:</a:t>
            </a:r>
            <a:r>
              <a:rPr lang="en-DE" sz="1400"/>
              <a:t> Zero-dollar ($0) courses capture extreme top-of-funnel traffic (spikes up to 268k students per course), proving invaluable for brand building.</a:t>
            </a:r>
          </a:p>
          <a:p>
            <a:pPr lvl="0">
              <a:lnSpc>
                <a:spcPct val="100000"/>
              </a:lnSpc>
            </a:pPr>
            <a:r>
              <a:rPr lang="en-DE" sz="1400" b="1"/>
              <a:t>The $200 Price Ceiling Myth:</a:t>
            </a:r>
            <a:r>
              <a:rPr lang="en-DE" sz="1400"/>
              <a:t> Instead of dropping off at premium prices, courses at the maximum tier ($200) maintain massive subscriber volumes, revealing strong willingness to pay for career-defining skills.</a:t>
            </a:r>
          </a:p>
          <a:p>
            <a:pPr lvl="0">
              <a:lnSpc>
                <a:spcPct val="100000"/>
              </a:lnSpc>
            </a:pPr>
            <a:r>
              <a:rPr lang="en-DE" sz="1400" b="1"/>
              <a:t>Strategic Sweet Spot:</a:t>
            </a:r>
            <a:r>
              <a:rPr lang="en-DE" sz="1400"/>
              <a:t> Pricing clusters tightly at standard anchor tiers ($20, $50, $100, $200), eliminating the need for complex, granular pricing strategies.</a:t>
            </a:r>
          </a:p>
          <a:p>
            <a:pPr>
              <a:lnSpc>
                <a:spcPct val="100000"/>
              </a:lnSpc>
            </a:pPr>
            <a:endParaRPr lang="en-DE" sz="1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523A9E-CB4E-4FB6-AF68-C947B508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6134100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125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01F56-8CE7-CD17-80C9-0297E788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4397556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DE" sz="2800"/>
              <a:t>Chapter 4: The Quality Equation — The Masterclass Moat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A9502-B361-0ECC-E7E7-1BE0FFC9A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3"/>
            <a:ext cx="4397554" cy="398392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DE" sz="1400" b="1"/>
              <a:t>High Student Satisfaction:</a:t>
            </a:r>
            <a:r>
              <a:rPr lang="en-DE" sz="1400"/>
              <a:t> Ratings display a strong positive skew, with the vast majority of courses maintaining satisfaction scores between </a:t>
            </a:r>
            <a:r>
              <a:rPr lang="en-DE" sz="1400" b="1"/>
              <a:t>0.70 and 0.95+</a:t>
            </a:r>
            <a:r>
              <a:rPr lang="en-DE" sz="1400"/>
              <a:t>.</a:t>
            </a:r>
          </a:p>
          <a:p>
            <a:pPr lvl="0">
              <a:lnSpc>
                <a:spcPct val="100000"/>
              </a:lnSpc>
            </a:pPr>
            <a:r>
              <a:rPr lang="en-DE" sz="1400" b="1"/>
              <a:t>The Bite-Sized Standard:</a:t>
            </a:r>
            <a:r>
              <a:rPr lang="en-DE" sz="1400"/>
              <a:t> Across every difficulty level, the typical median course duration sits between </a:t>
            </a:r>
            <a:r>
              <a:rPr lang="en-DE" sz="1400" b="1"/>
              <a:t>2 and 5 hours</a:t>
            </a:r>
            <a:r>
              <a:rPr lang="en-DE" sz="1400"/>
              <a:t>, keeping cognitive fatigue low.</a:t>
            </a:r>
          </a:p>
          <a:p>
            <a:pPr lvl="0">
              <a:lnSpc>
                <a:spcPct val="100000"/>
              </a:lnSpc>
            </a:pPr>
            <a:r>
              <a:rPr lang="en-DE" sz="1400" b="1"/>
              <a:t>The Outlier Effect:</a:t>
            </a:r>
            <a:r>
              <a:rPr lang="en-DE" sz="1400"/>
              <a:t> The highest-grossing courses consistently feature </a:t>
            </a:r>
            <a:r>
              <a:rPr lang="en-DE" sz="1400" b="1"/>
              <a:t>30 to 80+ hours of video</a:t>
            </a:r>
            <a:r>
              <a:rPr lang="en-DE" sz="1400"/>
              <a:t>, creating an unassailable content moat.</a:t>
            </a:r>
          </a:p>
          <a:p>
            <a:pPr lvl="0">
              <a:lnSpc>
                <a:spcPct val="100000"/>
              </a:lnSpc>
            </a:pPr>
            <a:r>
              <a:rPr lang="en-DE" sz="1400" b="1"/>
              <a:t>Consistent Quality Across Tiers:</a:t>
            </a:r>
            <a:r>
              <a:rPr lang="en-DE" sz="1400"/>
              <a:t> The rating matrix proves that high ratings aren't reserved for short introductory courses; thorough, expert curricula maintain high review scores across all domains.</a:t>
            </a:r>
          </a:p>
          <a:p>
            <a:pPr>
              <a:lnSpc>
                <a:spcPct val="100000"/>
              </a:lnSpc>
            </a:pPr>
            <a:endParaRPr lang="en-DE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33E80-D48D-1376-36D3-68CF1555C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992" y="723901"/>
            <a:ext cx="2632439" cy="1974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462BB-6964-AE86-E0B0-53ED5856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678" y="723900"/>
            <a:ext cx="2646437" cy="1984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EF1EC3-06F8-26F2-AEB6-D0513D1DA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745" y="2983043"/>
            <a:ext cx="4201409" cy="315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1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1921C9-9649-72C0-3E90-076C99BD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6283419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DE" sz="2800"/>
              <a:t>Chapter 5: The Flywheel — Social Proof &amp; The Multimillion-Dollar Course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EDDB4C-6582-43D5-AF25-99F4AD3A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EF4EF-05AB-4D65-F9AC-3161B2D03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2226373"/>
            <a:ext cx="6283419" cy="372199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DE" sz="1700" b="1"/>
              <a:t>The Compounding Review Flywheel:</a:t>
            </a:r>
            <a:r>
              <a:rPr lang="en-DE" sz="1700"/>
              <a:t> The scatter matrix confirms that review count is the single strongest statistical driver of exponential subscriber growth.</a:t>
            </a:r>
          </a:p>
          <a:p>
            <a:pPr lvl="0">
              <a:lnSpc>
                <a:spcPct val="100000"/>
              </a:lnSpc>
            </a:pPr>
            <a:r>
              <a:rPr lang="en-DE" sz="1700" b="1"/>
              <a:t>Curriculum Density Shields Pricing:</a:t>
            </a:r>
            <a:r>
              <a:rPr lang="en-DE" sz="1700"/>
              <a:t> Higher lecture density directly insulates courses from price resistance, validating the $150–$200 premium tiers.</a:t>
            </a:r>
          </a:p>
          <a:p>
            <a:pPr lvl="0">
              <a:lnSpc>
                <a:spcPct val="100000"/>
              </a:lnSpc>
            </a:pPr>
            <a:r>
              <a:rPr lang="en-DE" sz="1700" b="1"/>
              <a:t>The Elite Catalog Tier:</a:t>
            </a:r>
            <a:r>
              <a:rPr lang="en-DE" sz="1700"/>
              <a:t> Top-ranking web development courses generate </a:t>
            </a:r>
            <a:r>
              <a:rPr lang="en-DE" sz="1700" b="1"/>
              <a:t>$13M to $24M+</a:t>
            </a:r>
            <a:r>
              <a:rPr lang="en-DE" sz="1700"/>
              <a:t> each in gross estimated revenue.</a:t>
            </a:r>
          </a:p>
          <a:p>
            <a:pPr lvl="0">
              <a:lnSpc>
                <a:spcPct val="100000"/>
              </a:lnSpc>
            </a:pPr>
            <a:r>
              <a:rPr lang="en-DE" sz="1700" b="1"/>
              <a:t>Dynamic Record Inspection:</a:t>
            </a:r>
            <a:r>
              <a:rPr lang="en-DE" sz="1700"/>
              <a:t> The interactive table empowers stakeholders to filter and isolate the top 1% outliers from 3,676 total courses in real time.</a:t>
            </a:r>
          </a:p>
          <a:p>
            <a:pPr>
              <a:lnSpc>
                <a:spcPct val="100000"/>
              </a:lnSpc>
            </a:pPr>
            <a:endParaRPr lang="en-DE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BD16C-E237-27CF-696B-3C35E5EAD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303" y="909637"/>
            <a:ext cx="3183767" cy="2387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8B152E-6C02-2C78-678D-B5F757C94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554" y="3586904"/>
            <a:ext cx="3373263" cy="238658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152A91-2920-4848-A8BC-B15DA32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8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24DE3-48F1-6712-ED62-04362BD20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DE" dirty="0"/>
              <a:t>Chapter 6: The Strategic Playbook — 4 Rules for Marketplace Dominance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AA1B21-A022-DC0A-D0BD-2B1415FDA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3841526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41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BAB45B-2040-5B58-E6B9-649AA6C2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DE" dirty="0"/>
              <a:t>Epilogue: The Architecture — Powering Storytelling with KNIME</a:t>
            </a:r>
            <a:br>
              <a:rPr lang="en-DE" dirty="0"/>
            </a:br>
            <a:endParaRPr lang="en-D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0B3D60-43BC-F3BD-F52B-AA6BE785F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313057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427305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850</Words>
  <Application>Microsoft Macintosh PowerPoint</Application>
  <PresentationFormat>Widescreen</PresentationFormat>
  <Paragraphs>39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Calisto MT</vt:lpstr>
      <vt:lpstr>Cambria Math</vt:lpstr>
      <vt:lpstr>Univers Condensed</vt:lpstr>
      <vt:lpstr>ChronicleVTI</vt:lpstr>
      <vt:lpstr>Cracking the Udemy Code: How Data Solves the Creator's Dilemma</vt:lpstr>
      <vt:lpstr>Chapter 1: Engineering the Lens — From Raw Data to Actionable Signals</vt:lpstr>
      <vt:lpstr>Chapter 2: The Landscape — Tracing the Surge &amp; The Beginner Magnet</vt:lpstr>
      <vt:lpstr>Chapter 3: The Economics — Tech Dominance &amp; The Pricing Paradox</vt:lpstr>
      <vt:lpstr>Chapter 4: The Quality Equation — The Masterclass Moat</vt:lpstr>
      <vt:lpstr>Chapter 5: The Flywheel — Social Proof &amp; The Multimillion-Dollar Course</vt:lpstr>
      <vt:lpstr>Chapter 6: The Strategic Playbook — 4 Rules for Marketplace Dominance</vt:lpstr>
      <vt:lpstr>Epilogue: The Architecture — Powering Storytelling with KNIME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Jilin.Sebastian.nka</dc:creator>
  <cp:lastModifiedBy>Jilin.Sebastian.nka</cp:lastModifiedBy>
  <cp:revision>5</cp:revision>
  <dcterms:created xsi:type="dcterms:W3CDTF">2026-08-28T19:25:52Z</dcterms:created>
  <dcterms:modified xsi:type="dcterms:W3CDTF">2026-09-09T13:11:15Z</dcterms:modified>
</cp:coreProperties>
</file>